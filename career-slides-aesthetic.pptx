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497c63b4394081" /><Relationship Type="http://schemas.openxmlformats.org/officeDocument/2006/relationships/extended-properties" Target="/docProps/app.xml" Id="R75a51a45aca646e4" /><Relationship Type="http://schemas.openxmlformats.org/officeDocument/2006/relationships/officeDocument" Target="/ppt/presentation.xml" Id="R56a8e7f0112847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ee51b067fa46b2"/>
  </p:sldMasterIdLst>
  <p:notesMasterIdLst>
    <p:notesMasterId xmlns:r="http://schemas.openxmlformats.org/officeDocument/2006/relationships" r:id="R6daf6245dbcb47e6"/>
  </p:notesMasterIdLst>
  <p:sldIdLst>
    <p:sldId xmlns:r="http://schemas.openxmlformats.org/officeDocument/2006/relationships" id="256" r:id="Rfd8ad8c0ab0d4283"/>
    <p:sldId xmlns:r="http://schemas.openxmlformats.org/officeDocument/2006/relationships" id="257" r:id="Rcb774e64aa834031"/>
    <p:sldId xmlns:r="http://schemas.openxmlformats.org/officeDocument/2006/relationships" id="258" r:id="R59327d8227714efe"/>
    <p:sldId xmlns:r="http://schemas.openxmlformats.org/officeDocument/2006/relationships" id="259" r:id="R0c93715ea0ab4888"/>
    <p:sldId xmlns:r="http://schemas.openxmlformats.org/officeDocument/2006/relationships" id="260" r:id="Rc41e6c7a4e55464a"/>
    <p:sldId xmlns:r="http://schemas.openxmlformats.org/officeDocument/2006/relationships" id="261" r:id="R14f2b44f477f42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e51b067fa46b2" /><Relationship Type="http://schemas.openxmlformats.org/officeDocument/2006/relationships/theme" Target="/ppt/theme/theme1.xml" Id="R36cc58d416cf415b" /><Relationship Type="http://schemas.openxmlformats.org/officeDocument/2006/relationships/notesMaster" Target="/ppt/notesMasters/notesMaster1.xml" Id="R6daf6245dbcb47e6" /><Relationship Type="http://schemas.openxmlformats.org/officeDocument/2006/relationships/presProps" Target="/ppt/presProps.xml" Id="R0d9d5e9c357b44f7" /><Relationship Type="http://schemas.openxmlformats.org/officeDocument/2006/relationships/viewProps" Target="/ppt/viewProps.xml" Id="R9a20144471f845d6" /><Relationship Type="http://schemas.openxmlformats.org/officeDocument/2006/relationships/tableStyles" Target="/ppt/tableStyles.xml" Id="R1eee186b62784b87" /><Relationship Type="http://schemas.openxmlformats.org/officeDocument/2006/relationships/slide" Target="/ppt/slides/slide1.xml" Id="Rfd8ad8c0ab0d4283" /><Relationship Type="http://schemas.openxmlformats.org/officeDocument/2006/relationships/slide" Target="/ppt/slides/slide2.xml" Id="Rcb774e64aa834031" /><Relationship Type="http://schemas.openxmlformats.org/officeDocument/2006/relationships/slide" Target="/ppt/slides/slide3.xml" Id="R59327d8227714efe" /><Relationship Type="http://schemas.openxmlformats.org/officeDocument/2006/relationships/slide" Target="/ppt/slides/slide4.xml" Id="R0c93715ea0ab4888" /><Relationship Type="http://schemas.openxmlformats.org/officeDocument/2006/relationships/slide" Target="/ppt/slides/slide5.xml" Id="Rc41e6c7a4e55464a" /><Relationship Type="http://schemas.openxmlformats.org/officeDocument/2006/relationships/slide" Target="/ppt/slides/slide6.xml" Id="R14f2b44f477f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e64a0d4a3804b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4ba07b5934ed2" /><Relationship Type="http://schemas.openxmlformats.org/officeDocument/2006/relationships/notesMaster" Target="/ppt/notesMasters/notesMaster1.xml" Id="R55d4d66291ce49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caa6cf5fdb4e8a" /><Relationship Type="http://schemas.openxmlformats.org/officeDocument/2006/relationships/notesMaster" Target="/ppt/notesMasters/notesMaster1.xml" Id="R5f072e1ad69c4e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215da400ac44b8" /><Relationship Type="http://schemas.openxmlformats.org/officeDocument/2006/relationships/notesMaster" Target="/ppt/notesMasters/notesMaster1.xml" Id="R4ca452ae1f0849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b6adc8d7694dbd" /><Relationship Type="http://schemas.openxmlformats.org/officeDocument/2006/relationships/notesMaster" Target="/ppt/notesMasters/notesMaster1.xml" Id="Rb40b9035678545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84194bbab54e86" /><Relationship Type="http://schemas.openxmlformats.org/officeDocument/2006/relationships/notesMaster" Target="/ppt/notesMasters/notesMaster1.xml" Id="Rc6fb9d0a8f4d4b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91b44b501a4414" /><Relationship Type="http://schemas.openxmlformats.org/officeDocument/2006/relationships/notesMaster" Target="/ppt/notesMasters/notesMaster1.xml" Id="R0d796ab7e95d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career as a mix of technical analysis, compliance strategy, and communication. The main question is not whether AI replaces the role, but how it changes daily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 career report summary for Intro to AI (DA 109), adapted for presentation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ground the audience in what the job actually does before introducing AI. Emphasize that the work combines engineering, law, and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 career report summary for Intro to AI (DA 109), adapted for presentation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disruption here means task redesign, not total replacement. The repetitive parts shrink while professional judgment becomes more valuable.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 career report summary for Intro to AI (DA 109), adapted for presentation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AI as a multiplier for good engineering practice. It improves speed and clarity, but the engineer still owns the final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 career report summary for Intro to AI (DA 109), adapted for presentation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slide where you make the advice practical. Emphasize that the best users of AI are the ones who combine it with strong technical standards.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 career report summary for Intro to AI (DA 109), adapted for presentation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that the long-term advantage comes from combining regulatory expertise with practical AI workflow skill.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 career report summary for Intro to AI (DA 109), adapted for presentation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33bb93e6843d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B831CD2-3698-4673-AC00-F8305705B01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7A29883-F608-4FD7-9073-ACEE41554B8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03412C-3B2A-4BC7-A7A5-C1C496EA142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7F70FE-ADE0-48B3-BC52-577619B30BA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E6D533-C2F2-4D7E-B66E-87DE1813277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104030824bf457b" /><Relationship Type="http://schemas.openxmlformats.org/officeDocument/2006/relationships/slideLayout" Target="/ppt/slideLayouts/slideLayout2.xml" Id="Rbb943a304a7c40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E5B01-8141-4898-B06F-691A452BF00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943a304a7c40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23da1d9bb4011" /><Relationship Type="http://schemas.openxmlformats.org/officeDocument/2006/relationships/notesSlide" Target="/ppt/notesSlides/notesSlide1.xml" Id="R2698a52317134f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835895cb84dcf" /><Relationship Type="http://schemas.openxmlformats.org/officeDocument/2006/relationships/notesSlide" Target="/ppt/notesSlides/notesSlide2.xml" Id="R5f147f8c672d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a84d97d4c34724" /><Relationship Type="http://schemas.openxmlformats.org/officeDocument/2006/relationships/notesSlide" Target="/ppt/notesSlides/notesSlide3.xml" Id="R7d84472769b44b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43a20390b74f69" /><Relationship Type="http://schemas.openxmlformats.org/officeDocument/2006/relationships/notesSlide" Target="/ppt/notesSlides/notesSlide4.xml" Id="Rd6710c94fc6d4c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f94b971eab4b23" /><Relationship Type="http://schemas.openxmlformats.org/officeDocument/2006/relationships/notesSlide" Target="/ppt/notesSlides/notesSlide5.xml" Id="Rb2949308597a4f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55e81859514733" /><Relationship Type="http://schemas.openxmlformats.org/officeDocument/2006/relationships/notesSlide" Target="/ppt/notesSlides/notesSlide6.xml" Id="Rfb5bcbcf0d3e48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E6D533-C2F2-4D7E-B66E-87DE18132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74E33-AA02-4395-863C-D671BCEA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6BD92-1F68-4BCF-8A09-074083B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3840E-1161-496B-89E3-94D5EAAD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44A4B-4650-4EB8-A83E-907FCE7F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02AFE-D905-42B6-BFA2-341924B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0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D3717-06AE-410F-8CE5-D1E83AAB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22C42-B61F-4A96-AAEC-B6521A63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171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9CAE9-FBAC-40A7-88F7-283F4840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0450"/>
            <a:ext cx="2171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2CEE3-2C86-4FE0-B5D1-1BD01B7B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C793A-FC82-4DFF-A609-09C99B2B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B">
              <a:alpha val="2078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98DBE-4DBB-47E0-ACDD-8F73F276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E4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95664-EFD9-415D-8AA5-88403096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62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D023E-988A-40A5-A5AF-440847B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CAREER REPORT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27137-8E4D-42A9-AD2B-9B62BCBD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6762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52E"/>
                </a:solidFill>
              </a:defRPr>
            </a:pPr>
            <a:r>
              <a:rPr sz="3375" b="1">
                <a:solidFill>
                  <a:srgbClr val="17352E"/>
                </a:solidFill>
              </a:rPr>
              <a:t>Environmental Permitting &amp; Compliance Engineer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E9426-5F82-4A72-BF2C-FDB4D0F1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5584E"/>
                </a:solidFill>
              </a:defRPr>
            </a:pPr>
            <a:r>
              <a:rPr sz="1500" b="0">
                <a:solidFill>
                  <a:srgbClr val="35584E"/>
                </a:solidFill>
              </a:rPr>
              <a:t>How AI is changing a regulation-heavy career while human judgment stays central.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22BB4-8A36-47F8-98FF-84667386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4191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20A1D-1993-4127-B79A-1FE94F94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52E"/>
                </a:solidFill>
              </a:defRPr>
            </a:pPr>
            <a:r>
              <a:rPr sz="1575" b="1">
                <a:solidFill>
                  <a:srgbClr val="17352E"/>
                </a:solidFill>
              </a:rPr>
              <a:t>AI changes the workflow, not the mission.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A68E2-2C8E-48F6-A1BE-B1255090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Emilia Kozeracki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0A0A3-C055-4492-A8FB-05FC994D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Intro to AI (DA 109)</a:t>
            </a:r>
          </a:p>
        </p:txBody>
      </p:sp>
    </p:spTree>
    <p:extLst>
      <p:ext uri="{BB962C8B-B14F-4D97-AF65-F5344CB8AC3E}">
        <p14:creationId xmlns:p14="http://schemas.microsoft.com/office/powerpoint/2010/main" val="1677140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E6D533-C2F2-4D7E-B66E-87DE18132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2C0AB-A10B-4617-8125-2AD8B4D8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AB1B1-2BCE-4894-936B-F6FCC050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379ED-C20D-49F6-BA98-965EC10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20380-C4C3-4AC5-85FF-516C8393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B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44C4A-49BB-4BF3-8A5F-04E3CA09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0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176EC-EA65-4D2B-A159-045E03A1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288A1-F36E-4964-A5E5-54418D1C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171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61A63-3E09-4E26-B606-FA75D181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0450"/>
            <a:ext cx="2171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F2811-310E-496B-84A2-E3DD3852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45827-F7F5-466D-82CB-3155E58E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F368E-19BB-4ECB-82E2-1F0ADEC0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CAREER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EEB6F-E839-4049-A276-8184F7E6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02 / 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4C0D3-518A-41B0-8637-3BCA8D5B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7FB51-10F4-45A6-AAD5-9F1E815E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5AC03-2223-4651-9818-139A91E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52E"/>
                </a:solidFill>
              </a:defRPr>
            </a:pPr>
            <a:r>
              <a:rPr sz="2625" b="1">
                <a:solidFill>
                  <a:srgbClr val="17352E"/>
                </a:solidFill>
              </a:rPr>
              <a:t>What this role is responsible for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9490E-63E4-459F-A2B5-D88C65CB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584E"/>
                </a:solidFill>
              </a:defRPr>
            </a:pPr>
            <a:r>
              <a:rPr sz="1350" b="0">
                <a:solidFill>
                  <a:srgbClr val="35584E"/>
                </a:solidFill>
              </a:rPr>
              <a:t>Environmental permitting and compliance engineers help organizations meet legal requirements while reducing operational risk.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4244D-A7F8-4D1F-8F66-EA4172A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7034C-CF36-4F1F-914C-14986DC5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D5535-76D6-415C-A07B-BE557F7B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330AD-B7F4-450E-BE8B-B0089433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D648F-4802-49AC-8536-67C6B281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EA247-9752-433A-AAC6-A4F48598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9FE51-A3CD-4A44-9F23-3B50A852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D66D6-01D3-413E-A7B8-D8298901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Purpose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2B281-5601-4003-ACD7-594D78FA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Guide projects through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environmental regulations,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permit requirements, and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compliance obligations.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4ED60-685B-4C32-93BB-A68412D4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09379D-BD9E-4F32-A0A5-2F900BB7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55A32-6581-4F6F-9F2E-64C16809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71101-9546-41AB-B4E4-03A644B8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B61A1A-79AB-4EED-AD70-85D567BA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A878B9-CB91-4F47-AA01-4E1AA53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24F76A-F905-4C3D-A96F-4A931E12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626564-EED8-46F8-A75B-C4A4466E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Typical 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DC7309-1B68-4C34-8255-1D45A06B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Prepare permit applications,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review environmental data,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support site inspections,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and write technical reports.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EA5067-708B-40E1-BFB3-DFBB546F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9DCDA9-4D0A-4E64-9E7C-B82207B1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A9AF8-A75A-4965-B778-4E4A8BA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04FFE5-0D2D-40E8-9C06-368D9C1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5F1BF7-06B1-4617-A6C4-F9F11F76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34160A-87B0-4263-B19D-57EB2B3F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4B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C22405-6450-4344-B9BB-39E82776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E4F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5EF326-E569-48D6-84D5-A5B31252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Core strengths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BCC368-1D27-428E-A980-AF215669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Regulatory knowledge,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analytical thinking,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technical communication, and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careful attention to detail.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B69A58-70DE-4800-AB5A-D1AC27DF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Intro to AI (DA 109)</a:t>
            </a:r>
          </a:p>
        </p:txBody>
      </p:sp>
    </p:spTree>
    <p:extLst>
      <p:ext uri="{BB962C8B-B14F-4D97-AF65-F5344CB8AC3E}">
        <p14:creationId xmlns:p14="http://schemas.microsoft.com/office/powerpoint/2010/main" val="1595122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E6D533-C2F2-4D7E-B66E-87DE18132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46651-272A-41EB-8E11-CB4791B6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6515B-C5AD-4EF2-9138-747C940B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F408E-F6A2-4F14-87D6-8B6CC416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E4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56DC7-1F78-430D-9CEB-FEA9C7EA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E4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5DA7C-7679-4369-A24A-903E072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0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C1BF8-2107-422C-B647-E2911C73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344DE-8996-4FF2-B1C1-488870F4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171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4AE93-2A2A-40D3-B77D-A5E33865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0450"/>
            <a:ext cx="2171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359C7-19CF-400A-949F-DECE4BB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78986-A11F-4CE5-8945-EF9106F6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47982-4A14-4CB7-ABCE-B8C07321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AI DISRUPTION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31FE3-6779-4A8D-8B17-DEC8328A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03 / 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61319-DDDD-4ACE-8CD3-A8AF29CF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76214-1D11-4FCD-823E-E2B8F4F1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4F20E-1602-423F-9135-7DC7868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52E"/>
                </a:solidFill>
              </a:defRPr>
            </a:pPr>
            <a:r>
              <a:rPr sz="2625" b="1">
                <a:solidFill>
                  <a:srgbClr val="17352E"/>
                </a:solidFill>
              </a:rPr>
              <a:t>The role is shifting toward oversight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FD584-724F-44CD-BE65-5FA2163D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584E"/>
                </a:solidFill>
              </a:defRPr>
            </a:pPr>
            <a:r>
              <a:rPr sz="1350" b="0">
                <a:solidFill>
                  <a:srgbClr val="35584E"/>
                </a:solidFill>
              </a:rPr>
              <a:t>AI is most useful where work is repetitive, document-heavy, and time sensitive.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3B6E9-42AC-48F1-A93D-F65E8933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37EC1-A16D-4B6C-97DE-09EB179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A22DB-5755-4593-8BD4-746FF784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D63A6-3247-47B6-88FC-CECCB88C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2E"/>
                </a:solidFill>
              </a:defRPr>
            </a:pPr>
            <a:r>
              <a:rPr sz="2250" b="1">
                <a:solidFill>
                  <a:srgbClr val="17352E"/>
                </a:solidFill>
              </a:rPr>
              <a:t>Automation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19378-7764-472C-8CD7-F1764B44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584E"/>
                </a:solidFill>
              </a:defRPr>
            </a:pPr>
            <a:r>
              <a:rPr sz="1200" b="0">
                <a:solidFill>
                  <a:srgbClr val="35584E"/>
                </a:solidFill>
              </a:rPr>
              <a:t>Routine permit workflows can be standardized and checked faster.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470F1-A41D-4B04-9E28-A7422D80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Administrative drafting and package review become easier to scale.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76D8A-4BAC-4F5D-9BD4-A4D55905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243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5154E-76FA-4149-9D14-8A9E91C4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79CBD-9D0B-4515-83E1-C056474A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D8779D-B639-45BA-9917-87DBF4DC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2E"/>
                </a:solidFill>
              </a:defRPr>
            </a:pPr>
            <a:r>
              <a:rPr sz="2250" b="1">
                <a:solidFill>
                  <a:srgbClr val="17352E"/>
                </a:solidFill>
              </a:rPr>
              <a:t>Detection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474B7-2E62-4A4F-95DD-39346DED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584E"/>
                </a:solidFill>
              </a:defRPr>
            </a:pPr>
            <a:r>
              <a:rPr sz="1200" b="0">
                <a:solidFill>
                  <a:srgbClr val="35584E"/>
                </a:solidFill>
              </a:rPr>
              <a:t>AI can flag missing sections, inconsistencies, and possible compliance issues early.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1C1F0-0B25-43A9-9426-A8144169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This reduces manual review burden and helps catch preventable mistakes.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77F1FD-FFB8-432C-9B73-D0813F30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243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7EAF2-1A52-49DC-902E-4A90916D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5B0303-9CD5-4ED6-8F3B-4E41FB89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E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7DD79-7EDA-466F-A711-7F544880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2E"/>
                </a:solidFill>
              </a:defRPr>
            </a:pPr>
            <a:r>
              <a:rPr sz="2250" b="1">
                <a:solidFill>
                  <a:srgbClr val="17352E"/>
                </a:solidFill>
              </a:rPr>
              <a:t>Judgment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F21E3-5CA9-4541-8D98-086EBE99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584E"/>
                </a:solidFill>
              </a:defRPr>
            </a:pPr>
            <a:r>
              <a:rPr sz="1200" b="0">
                <a:solidFill>
                  <a:srgbClr val="35584E"/>
                </a:solidFill>
              </a:rPr>
              <a:t>Engineers still need to interpret context, risk, and legal nuance.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7C1FEB-399B-4B63-BA44-F1870868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The human role moves upward into strategy, oversight, and decision-making.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98AE87-D53A-4C22-85BA-AEDAC966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Intro to AI (DA 109)</a:t>
            </a:r>
          </a:p>
        </p:txBody>
      </p:sp>
    </p:spTree>
    <p:extLst>
      <p:ext uri="{BB962C8B-B14F-4D97-AF65-F5344CB8AC3E}">
        <p14:creationId xmlns:p14="http://schemas.microsoft.com/office/powerpoint/2010/main" val="236006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E6D533-C2F2-4D7E-B66E-87DE18132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31D86-9607-4DF6-A11A-560A863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8BAE9-811B-497A-8D29-98250687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B2556-FA4A-4416-8C6C-BBCF6DE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8BA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CF9F2-8BFD-4C7C-9FC9-9B22112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8B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79C22-76BF-4FE5-A6A2-251A7645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0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295E1-F6E7-4E74-A83E-0CB1117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77D14-B4ED-4DDF-A6C1-2BC66C28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171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6F6A5-5BD0-4444-8F89-291C494D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0450"/>
            <a:ext cx="2171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DDF5B-1FDB-4FCC-9409-3176DF67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1E3A1-7689-40EE-BA57-F08557ED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71656-26BF-4C56-B62D-E634371B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AI BENEFITS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4764F-D79C-4AE2-A891-6E15A1FE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04 / 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B5E3D-B005-4711-AC2B-D49A3E79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49B39-192D-4C90-8984-0DF36E0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7EB03-9639-47A3-8898-E5A85CA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52E"/>
                </a:solidFill>
              </a:defRPr>
            </a:pPr>
            <a:r>
              <a:rPr sz="2625" b="1">
                <a:solidFill>
                  <a:srgbClr val="17352E"/>
                </a:solidFill>
              </a:rPr>
              <a:t>Where AI can improve the quality of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A9354-C97B-44B4-9006-FE79549A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584E"/>
                </a:solidFill>
              </a:defRPr>
            </a:pPr>
            <a:r>
              <a:rPr sz="1350" b="0">
                <a:solidFill>
                  <a:srgbClr val="35584E"/>
                </a:solidFill>
              </a:rPr>
              <a:t>The biggest gains come from speed, clarity, and earlier visibility into risk.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2B2C8-4DA4-4C5B-BD2C-98F66601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AE119-E384-498E-8210-5F864002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466BB-1802-458F-B734-9093DB11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775D2-5E29-449C-976D-D63493E3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26A49-86F9-4B8D-97BD-84E7881E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B0CA0-AEE8-409D-A2FC-4EB0E20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66034-E0C9-405E-A643-36BE4BA7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67F52-B689-4D68-BCCD-3616C28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Research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697E8-EF43-4015-80DD-CCA69B8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AI can summarize dense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regulatory material faster,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helping engineers get to the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relevant rules more quickly.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051BD2-30C1-4F38-9EA2-54BD51B3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4B5A76-8CAB-4AF1-8E78-AC72A5D1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886FC8-AEA5-4652-822C-8123758E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1B9675-2897-42D9-9784-D6CA8569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FB0C5C-658F-4D7E-B600-A2481420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02FAA5-79B6-43E3-9AFB-7DB3F63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7F264C-0F2F-45C7-9128-6949FFA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C638C-37C9-4936-80FE-B3D95207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Monitoring support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04538-9CA2-4EAA-97C0-4AD8AC91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Real-time alerts and pattern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detection can highlight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problems before they turn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into violations.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586E91-DD2C-4C10-A978-6E502F54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0F7970-0DB9-43B8-BDD4-994D991B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1C554D-B1F1-47F3-A74A-C4AD164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187125-E037-41B2-88A5-40C2CC71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28A559-6360-4E4A-AABB-D4F110C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6D9E07-2E9F-430A-9B08-C5B40FFA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4B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1BC4D9-B035-4B37-AA87-E4D44413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E4F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2F0FB6-15C5-47A0-B315-ABEE5F9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Communication support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26275E-B1F0-48D2-998F-E2EDD164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Drafting assistance can make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technical findings clearer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for clients, regulators, and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non-technical teams.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9A1121-B56B-4C6F-8003-7006E4F6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Intro to AI (DA 109)</a:t>
            </a:r>
          </a:p>
        </p:txBody>
      </p:sp>
    </p:spTree>
    <p:extLst>
      <p:ext uri="{BB962C8B-B14F-4D97-AF65-F5344CB8AC3E}">
        <p14:creationId xmlns:p14="http://schemas.microsoft.com/office/powerpoint/2010/main" val="642295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E6D533-C2F2-4D7E-B66E-87DE18132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8B4CC-EE16-4E90-BF59-C7E3A883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7C651-7BCD-4E47-AED8-8E106A33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59595-124B-47F3-A33B-80C6422D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645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EE7DD-2DB0-485D-ADBE-AEF2B409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645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8257F-F570-4A85-B618-4346BBA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0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E94B6-076C-49A3-B2C5-FD50227D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C387E-075C-4986-B5CE-1D94D8E8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171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5C126-212D-483B-9A88-6D21A4C7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0450"/>
            <a:ext cx="2171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41483-8905-490B-A431-DA80ED9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B6B93-CE9B-4A6C-826A-9DDA27E5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8F2CC-B4B7-47E0-858A-8489768F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USING AI WELL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CE574-FA6F-4029-8DB6-F3D76D7E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05 / 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95500-5F84-4E05-BD62-F44B98A5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DAAB5-C00F-4556-9D98-C62DF92E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BDE4E-6CCC-40F4-96FE-DF34436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52E"/>
                </a:solidFill>
              </a:defRPr>
            </a:pPr>
            <a:r>
              <a:rPr sz="2625" b="1">
                <a:solidFill>
                  <a:srgbClr val="17352E"/>
                </a:solidFill>
              </a:rPr>
              <a:t>How to use AI for a career advantage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306A6-803D-482A-8CE3-10349748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584E"/>
                </a:solidFill>
              </a:defRPr>
            </a:pPr>
            <a:r>
              <a:rPr sz="1350" b="0">
                <a:solidFill>
                  <a:srgbClr val="35584E"/>
                </a:solidFill>
              </a:rPr>
              <a:t>The strongest use cases support better preparation, stronger analysis, and clearer communication.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E86E0-B52F-4CAF-BDA9-F3287224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E1D05-2312-4599-A9C5-C8815E5E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0E0E8-3F62-4DA7-99B4-FCFE913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C6D90-9EF6-423D-A3A6-5296EF11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273BE-5FAD-4390-B7BF-3AC1B41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0B3A9-20D8-4798-A837-72210976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FF00E-B1E9-4484-BEA4-DA7B0E3E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7230A-5318-4F61-BD84-411F3A5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Pre-submission QA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D3002-337D-46B6-958F-865011C3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Use AI to review permit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packages for missing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sections, inconsistencies,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and formatting issues before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submission.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65309-30B3-4607-BBB9-69D35A57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64984B-0FD3-479E-A08B-897FD589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8C9F8-7C3A-40DF-B278-4B444F07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3B787-71A6-4753-877A-AB5509C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B7F4D8-237A-4144-B396-2282BA4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799AC3-F93C-4C8A-8542-DE6AC63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15E2FC-A43F-4C99-B0BF-CE1E753E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F6CD87-36D7-49CC-A90D-9CBAB241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Data interpretation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3D74C-8445-4BF4-93FD-C20B97BF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Pair Excel or Python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workflows with AI support to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spot trends, summarize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patterns, and explain what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the data means.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098AAE-DD8D-41D0-A387-F422B6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243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D7ED6E-17E6-46D8-ABCF-358EC60F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C44CF5-2054-417D-926C-198162E6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52E12C-EC51-4524-8D11-9F4957A6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11430">
            <a:solidFill>
              <a:srgbClr val="1735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6A7F43-7B99-4ADD-B9F3-0B6FCA38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63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5DF7D2-E8A0-45CD-8F3F-ADA2637E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4B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A1796B-8782-456C-AE03-B4CC2F31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E4F"/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84C3B6-3F2D-47C2-83E8-950C769C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5645"/>
                </a:solidFill>
              </a:defRPr>
            </a:pPr>
            <a:r>
              <a:rPr sz="1125" b="1">
                <a:solidFill>
                  <a:srgbClr val="1E5645"/>
                </a:solidFill>
              </a:rPr>
              <a:t>Stakeholder translation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B450DE-B7DA-4D9C-97A8-83451403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Turn technical findings into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plain-language updates that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make decisions easier for</a:t>
            </a:r>
          </a:p>
          <a:p xmlns:a="http://schemas.openxmlformats.org/drawingml/2006/main">
            <a:pPr algn="l">
              <a:defRPr sz="1125" b="0">
                <a:solidFill>
                  <a:srgbClr val="17352E"/>
                </a:solidFill>
              </a:defRPr>
            </a:pPr>
            <a:r>
              <a:rPr sz="1125" b="0">
                <a:solidFill>
                  <a:srgbClr val="17352E"/>
                </a:solidFill>
              </a:rPr>
              <a:t>clients and regulators.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4FCA53-7C05-48DD-A89D-D76AA257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Intro to AI (DA 109)</a:t>
            </a:r>
          </a:p>
        </p:txBody>
      </p:sp>
    </p:spTree>
    <p:extLst>
      <p:ext uri="{BB962C8B-B14F-4D97-AF65-F5344CB8AC3E}">
        <p14:creationId xmlns:p14="http://schemas.microsoft.com/office/powerpoint/2010/main" val="1169649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E6D533-C2F2-4D7E-B66E-87DE18132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20ADB-CA91-4981-A6C8-F7CCBB5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B0E23-34B7-4F4D-B94C-59E09D58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758A0-607B-48B7-AB56-C65D9342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84E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71FBB-6DA3-42D6-88C1-C8721EC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84E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975A0-504A-4FDE-B54B-D78C1AA3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0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5EF39-AA00-4549-86A8-FDFFE78A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0CA60-B677-4A7D-A4F5-230AE086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171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D0860-2560-4869-88FC-0BCF6D75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0450"/>
            <a:ext cx="2171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73EB6-98BE-41F8-8CF7-5828627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20B1D-BF94-4EDC-ABAA-E8C66596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9FFDC-E9E3-483A-8300-5054EBF3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NEXT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2D126-8BC9-440D-98EF-3A7B146C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5645"/>
                </a:solidFill>
              </a:defRPr>
            </a:pPr>
            <a:r>
              <a:rPr sz="975" b="1">
                <a:solidFill>
                  <a:srgbClr val="1E5645"/>
                </a:solidFill>
              </a:rPr>
              <a:t>06 / 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9FA43-CDC5-4B7D-85C4-ADFE61D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7B7C2-08AD-42B5-B13F-5863943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7A89A-5441-4490-A564-F87D6DD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52E"/>
                </a:solidFill>
              </a:defRPr>
            </a:pPr>
            <a:r>
              <a:rPr sz="2625" b="1">
                <a:solidFill>
                  <a:srgbClr val="17352E"/>
                </a:solidFill>
              </a:rPr>
              <a:t>Best preparation for the next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86956-2910-47B2-B4B1-01920449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584E"/>
                </a:solidFill>
              </a:defRPr>
            </a:pPr>
            <a:r>
              <a:rPr sz="1350" b="0">
                <a:solidFill>
                  <a:srgbClr val="35584E"/>
                </a:solidFill>
              </a:rPr>
              <a:t>A strong foundation blends technical tools, communication skill, and current regulatory knowledge.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CB8A1-6135-4839-95E9-2AE75417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211DC-30C1-4B0E-B047-CB356155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95A33-2343-4489-A853-F4C602E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80DE3-452C-4E63-B38D-89DF6AF1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2E"/>
                </a:solidFill>
              </a:defRPr>
            </a:pPr>
            <a:r>
              <a:rPr sz="2250" b="1">
                <a:solidFill>
                  <a:srgbClr val="17352E"/>
                </a:solidFill>
              </a:rPr>
              <a:t>Data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B1E1F-F939-4F1F-BA03-B6902906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584E"/>
                </a:solidFill>
              </a:defRPr>
            </a:pPr>
            <a:r>
              <a:rPr sz="1200" b="0">
                <a:solidFill>
                  <a:srgbClr val="35584E"/>
                </a:solidFill>
              </a:rPr>
              <a:t>Keep building fluency in Excel, Python, GIS, and other analytical tools.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C69AF-DFF0-41A7-A12F-21BB2D82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These tools make AI outputs easier to validate and apply.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94EFE-221E-43F4-A47B-9641462D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243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3A5C5-FFE5-400E-A556-533DC89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CC154-4839-4C2B-9696-2364E92F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DAAF4-F3BB-4FB3-9EC8-432E268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2E"/>
                </a:solidFill>
              </a:defRPr>
            </a:pPr>
            <a:r>
              <a:rPr sz="2250" b="1">
                <a:solidFill>
                  <a:srgbClr val="17352E"/>
                </a:solidFill>
              </a:rPr>
              <a:t>Writing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BEE67-AC8E-44F1-9B49-1176C1C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584E"/>
                </a:solidFill>
              </a:defRPr>
            </a:pPr>
            <a:r>
              <a:rPr sz="1200" b="0">
                <a:solidFill>
                  <a:srgbClr val="35584E"/>
                </a:solidFill>
              </a:rPr>
              <a:t>Strengthen technical writing and presentation skills for mixed audiences.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1DAD2-AE6A-4984-81D7-1009E3B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Clear communication stays valuable even as drafting gets faster.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D2FC3-9E72-4BC4-8338-CC016791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243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7CCB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81604E-49F4-40C1-BB04-811AB1F6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0E7">
              <a:alpha val="96078"/>
            </a:srgbClr>
          </a:solidFill>
          <a:ln xmlns:a="http://schemas.openxmlformats.org/drawingml/2006/main" w="9525">
            <a:solidFill>
              <a:srgbClr val="1735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9469B3-1BEE-45E9-B273-1082A163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E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BDAA0-9A61-4840-8D47-BA98D47E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2E"/>
                </a:solidFill>
              </a:defRPr>
            </a:pPr>
            <a:r>
              <a:rPr sz="2250" b="1">
                <a:solidFill>
                  <a:srgbClr val="17352E"/>
                </a:solidFill>
              </a:rPr>
              <a:t>Regulation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0D229C-BD5A-4277-8855-A7BF8B0B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584E"/>
                </a:solidFill>
              </a:defRPr>
            </a:pPr>
            <a:r>
              <a:rPr sz="1200" b="0">
                <a:solidFill>
                  <a:srgbClr val="35584E"/>
                </a:solidFill>
              </a:rPr>
              <a:t>Stay current on environmental laws, permit frameworks, and compliance expectations.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CD1DF-DADF-441D-9128-C6493C2D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Domain expertise is the layer AI cannot replace on its own.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DF3734-4105-44FC-8C4C-84717268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46C"/>
                </a:solidFill>
              </a:defRPr>
            </a:pPr>
            <a:r>
              <a:rPr sz="750" b="0">
                <a:solidFill>
                  <a:srgbClr val="5D746C"/>
                </a:solidFill>
              </a:rPr>
              <a:t>Intro to AI (DA 109)</a:t>
            </a:r>
          </a:p>
        </p:txBody>
      </p:sp>
    </p:spTree>
    <p:extLst>
      <p:ext uri="{BB962C8B-B14F-4D97-AF65-F5344CB8AC3E}">
        <p14:creationId xmlns:p14="http://schemas.microsoft.com/office/powerpoint/2010/main" val="19898913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2026-04-29T14:14:42.7880000Z</dcterms:created>
  <dcterms:modified xsi:type="dcterms:W3CDTF">2026-04-29T14:14:42.7890000Z</dcterms:modified>
</coreProperties>
</file>